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8" r:id="rId4"/>
    <p:sldId id="257" r:id="rId5"/>
    <p:sldId id="262" r:id="rId6"/>
    <p:sldId id="259" r:id="rId7"/>
    <p:sldId id="271" r:id="rId8"/>
    <p:sldId id="273" r:id="rId9"/>
    <p:sldId id="274" r:id="rId10"/>
    <p:sldId id="275" r:id="rId11"/>
    <p:sldId id="280" r:id="rId12"/>
    <p:sldId id="278" r:id="rId13"/>
    <p:sldId id="264" r:id="rId14"/>
    <p:sldId id="269" r:id="rId15"/>
    <p:sldId id="279" r:id="rId16"/>
    <p:sldId id="281" r:id="rId17"/>
    <p:sldId id="267" r:id="rId18"/>
    <p:sldId id="268" r:id="rId1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1" autoAdjust="0"/>
    <p:restoredTop sz="94660"/>
  </p:normalViewPr>
  <p:slideViewPr>
    <p:cSldViewPr snapToGrid="0">
      <p:cViewPr varScale="1">
        <p:scale>
          <a:sx n="97" d="100"/>
          <a:sy n="97" d="100"/>
        </p:scale>
        <p:origin x="84" y="2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8F7737-8D50-BAEF-FC77-B63839AF8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867ED0C-9B2F-45C5-1B8C-6900DC5B5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AB07832-7D4C-3E37-89B2-D27473AFF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06A7-AD3C-4C1E-91A4-F71E416D5173}" type="datetimeFigureOut">
              <a:rPr lang="nl-BE" smtClean="0"/>
              <a:t>26/08/2026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21B7E57-099E-56B4-FF2C-3C9D5B5B4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767AF38-A399-83F6-E180-9407A7A80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7BED4-54CE-41A4-BE9B-8F3D0D28164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6445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71DD35-84D4-F5CB-D4A5-46EEEBDFE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9E13F38-FC97-5A70-CDCF-49F197D63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8C0AD5D-1499-7771-8B80-9B53DA9A1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06A7-AD3C-4C1E-91A4-F71E416D5173}" type="datetimeFigureOut">
              <a:rPr lang="nl-BE" smtClean="0"/>
              <a:t>26/08/2026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F72F747-C317-18A3-20E6-545DBC566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069E267-965E-D8AE-04C8-98D755DF5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7BED4-54CE-41A4-BE9B-8F3D0D28164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67816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E8F118-F820-823B-6E4B-A999BF44A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C261812-9434-F0FD-561B-8CA0D2662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D75AA6D-E274-B188-25BB-22CD11BF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06A7-AD3C-4C1E-91A4-F71E416D5173}" type="datetimeFigureOut">
              <a:rPr lang="nl-BE" smtClean="0"/>
              <a:t>26/08/2026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3BEAA28-E9C4-C257-AB8B-76195F95F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F84672D-88D6-8E4C-E1CB-B5EF0B563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7BED4-54CE-41A4-BE9B-8F3D0D28164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47133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91C008-DB09-90CC-9BB2-A2ADBC920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65B9A1-43D9-FB53-158E-FC507A628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EF73027-52FB-4F59-E267-F14D8A478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942E57C-B4AD-E2F7-B5D8-A390CB9B0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06A7-AD3C-4C1E-91A4-F71E416D5173}" type="datetimeFigureOut">
              <a:rPr lang="nl-BE" smtClean="0"/>
              <a:t>26/08/2026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39310AA-2E71-1F94-0069-04C2822D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7DB71A3-5688-66F0-7819-C2EC4F91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7BED4-54CE-41A4-BE9B-8F3D0D28164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16515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B21A26-AB5C-69FE-3955-B054F2B7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3CB2EF2-E9A0-BF74-D7AB-878349021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D693B77-2052-6E84-8169-E5C22CFD1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2EE45D1-EA07-3B10-9870-1C02473CA4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791CE69-6B27-3838-8171-6454C4540F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B563E15-43EB-CFDB-532B-F4B1B4CBD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06A7-AD3C-4C1E-91A4-F71E416D5173}" type="datetimeFigureOut">
              <a:rPr lang="nl-BE" smtClean="0"/>
              <a:t>26/08/2026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64BF22A-010C-811C-DD06-52F78E1B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410C44C-D8BB-FE30-55A9-6E179D4F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7BED4-54CE-41A4-BE9B-8F3D0D28164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07254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9D5F16-2965-FD83-5F95-A5D53DF24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E10BCC7-F91A-23FE-C53A-45CE4AC34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06A7-AD3C-4C1E-91A4-F71E416D5173}" type="datetimeFigureOut">
              <a:rPr lang="nl-BE" smtClean="0"/>
              <a:t>26/08/2026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7828416-4570-3187-B427-7585441F9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E573832-C613-0CFB-4CCA-CB424962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7BED4-54CE-41A4-BE9B-8F3D0D28164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30081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2D5F051-3134-9609-8495-2CB64782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06A7-AD3C-4C1E-91A4-F71E416D5173}" type="datetimeFigureOut">
              <a:rPr lang="nl-BE" smtClean="0"/>
              <a:t>26/08/2026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92C0F80-2BDF-763B-A639-7A78B60B8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34050F6-E018-5419-F7D5-3B88D3F7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7BED4-54CE-41A4-BE9B-8F3D0D28164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3102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8586EB-5734-54FE-2D48-C7FBA7501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713EF4D-BC18-025E-FD73-F3C1E2E08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F031841-621E-8555-C626-89E3C57D3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66CA9D8-AF6A-841A-E3C5-9D7705AE6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06A7-AD3C-4C1E-91A4-F71E416D5173}" type="datetimeFigureOut">
              <a:rPr lang="nl-BE" smtClean="0"/>
              <a:t>26/08/2026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83EB0EF-2303-967D-93C7-268285053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FAB8FD-2768-7C68-B1C2-5CCD232FA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7BED4-54CE-41A4-BE9B-8F3D0D28164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0656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1B3F45-56E3-E5A5-9F57-7B6034F54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00F817E8-D951-E12D-2BAA-94D60D7357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E8E0289-07A8-B8F6-8797-CDB6473E9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A272D3D-5187-EC46-7CFE-19AA9848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06A7-AD3C-4C1E-91A4-F71E416D5173}" type="datetimeFigureOut">
              <a:rPr lang="nl-BE" smtClean="0"/>
              <a:t>26/08/2026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47A7280-B627-F314-081F-DC26D259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1F8087F-2B6C-FED9-DC8B-364B3B71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7BED4-54CE-41A4-BE9B-8F3D0D28164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1664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D852EF-01F8-1508-8AC2-ECA7FDBC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60A20A4-C575-AAE2-2240-F40DDCFD4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5A2A22D-B563-6799-FD0E-FC9222EE8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06A7-AD3C-4C1E-91A4-F71E416D5173}" type="datetimeFigureOut">
              <a:rPr lang="nl-BE" smtClean="0"/>
              <a:t>26/08/2026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899AD83-53E3-58EF-4556-2D5BD450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E2259B9-5E40-B8F2-5D46-69C94316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7BED4-54CE-41A4-BE9B-8F3D0D28164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94354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08FFB518-7CCD-3492-187F-CB8A658CB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01A2B3E-ED76-9740-0609-73417C89D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91868A8-8EF6-759E-9665-454AEAF27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406A7-AD3C-4C1E-91A4-F71E416D5173}" type="datetimeFigureOut">
              <a:rPr lang="nl-BE" smtClean="0"/>
              <a:t>26/08/2026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CE15EAE-95EC-69EC-B08D-7C6916DAA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A6070C-F3D1-F38B-781C-C89AD864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7BED4-54CE-41A4-BE9B-8F3D0D28164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701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DFF762A-9505-673F-EB0D-B091437E7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A663ACC-15AF-3DD2-4779-ED0A8F5B8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64CF0C9-7465-7C20-5D9D-17B16ED0FD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406A7-AD3C-4C1E-91A4-F71E416D5173}" type="datetimeFigureOut">
              <a:rPr lang="nl-BE" smtClean="0"/>
              <a:t>26/08/2026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0FFEDE3-0E03-F1AE-077A-8CBF5E41E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5A14D2A-4F63-9DF5-7164-37A611960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7BED4-54CE-41A4-BE9B-8F3D0D28164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7919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608C3B-EF2D-C988-FA15-1C4FC473E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>
            <a:normAutofit/>
          </a:bodyPr>
          <a:lstStyle/>
          <a:p>
            <a:r>
              <a:rPr lang="nl-NL" sz="6600">
                <a:solidFill>
                  <a:srgbClr val="FFFFFF"/>
                </a:solidFill>
              </a:rPr>
              <a:t>Vulkan Renderer</a:t>
            </a:r>
            <a:endParaRPr lang="nl-BE" sz="6600">
              <a:solidFill>
                <a:srgbClr val="FFFFFF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1067BC0-04CE-0012-C01B-2C14C0266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916" y="4533813"/>
            <a:ext cx="6930189" cy="938463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rgbClr val="FFFFFF"/>
                </a:solidFill>
              </a:rPr>
              <a:t>Senne Goeminne</a:t>
            </a:r>
            <a:endParaRPr lang="nl-BE" dirty="0">
              <a:solidFill>
                <a:srgbClr val="FFFFFF"/>
              </a:solidFill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68D1007-4B72-3907-D981-AB35A4603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nl-NL" sz="5000"/>
              <a:t>Core Architecture</a:t>
            </a:r>
            <a:endParaRPr lang="nl-BE" sz="50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AF759AF-8B03-F433-ADD6-1CABE8628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nl-NL" sz="2200" dirty="0"/>
              <a:t>General </a:t>
            </a:r>
            <a:r>
              <a:rPr lang="nl-NL" sz="2200" dirty="0" err="1"/>
              <a:t>Rule</a:t>
            </a:r>
            <a:r>
              <a:rPr lang="nl-NL" sz="2200" dirty="0"/>
              <a:t>: </a:t>
            </a:r>
            <a:r>
              <a:rPr lang="nl-NL" sz="2200" dirty="0" err="1"/>
              <a:t>structs</a:t>
            </a:r>
            <a:r>
              <a:rPr lang="nl-NL" sz="2200" dirty="0"/>
              <a:t> as data </a:t>
            </a:r>
            <a:r>
              <a:rPr lang="nl-NL" sz="2200" dirty="0" err="1"/>
              <a:t>wrappers</a:t>
            </a:r>
            <a:r>
              <a:rPr lang="nl-NL" sz="2200" dirty="0"/>
              <a:t> </a:t>
            </a:r>
            <a:r>
              <a:rPr lang="nl-NL" sz="2200" dirty="0" err="1"/>
              <a:t>with</a:t>
            </a:r>
            <a:r>
              <a:rPr lang="nl-NL" sz="2200" dirty="0"/>
              <a:t> helper </a:t>
            </a:r>
            <a:r>
              <a:rPr lang="nl-NL" sz="2200" dirty="0" err="1"/>
              <a:t>functions</a:t>
            </a:r>
            <a:endParaRPr lang="nl-NL" sz="2200" dirty="0"/>
          </a:p>
          <a:p>
            <a:r>
              <a:rPr lang="nl-NL" sz="2200" dirty="0" err="1"/>
              <a:t>Groups</a:t>
            </a:r>
            <a:r>
              <a:rPr lang="nl-NL" sz="2200" dirty="0"/>
              <a:t> </a:t>
            </a:r>
            <a:r>
              <a:rPr lang="nl-NL" sz="2200" dirty="0" err="1"/>
              <a:t>related</a:t>
            </a:r>
            <a:r>
              <a:rPr lang="nl-NL" sz="2200" dirty="0"/>
              <a:t> data</a:t>
            </a:r>
          </a:p>
          <a:p>
            <a:r>
              <a:rPr lang="nl-NL" sz="2200" dirty="0" err="1"/>
              <a:t>Stateless</a:t>
            </a:r>
            <a:r>
              <a:rPr lang="nl-NL" sz="2200" dirty="0"/>
              <a:t> </a:t>
            </a:r>
            <a:r>
              <a:rPr lang="nl-NL" sz="2200" dirty="0" err="1"/>
              <a:t>objects</a:t>
            </a:r>
            <a:r>
              <a:rPr lang="nl-NL" sz="2200" dirty="0"/>
              <a:t>, </a:t>
            </a:r>
            <a:r>
              <a:rPr lang="nl-NL" sz="2200" dirty="0" err="1"/>
              <a:t>passed</a:t>
            </a:r>
            <a:r>
              <a:rPr lang="nl-NL" sz="2200" dirty="0"/>
              <a:t> </a:t>
            </a:r>
            <a:r>
              <a:rPr lang="nl-NL" sz="2200" dirty="0" err="1"/>
              <a:t>explicitly</a:t>
            </a:r>
            <a:r>
              <a:rPr lang="nl-NL" sz="2200" dirty="0"/>
              <a:t> </a:t>
            </a:r>
            <a:r>
              <a:rPr lang="nl-NL" sz="2200" dirty="0" err="1"/>
              <a:t>when</a:t>
            </a:r>
            <a:r>
              <a:rPr lang="nl-NL" sz="2200" dirty="0"/>
              <a:t> </a:t>
            </a:r>
            <a:r>
              <a:rPr lang="nl-NL" sz="2200" dirty="0" err="1"/>
              <a:t>needed</a:t>
            </a:r>
            <a:endParaRPr lang="nl-NL" sz="2200" dirty="0"/>
          </a:p>
          <a:p>
            <a:r>
              <a:rPr lang="nl-NL" sz="2200" dirty="0" err="1"/>
              <a:t>Exception</a:t>
            </a:r>
            <a:r>
              <a:rPr lang="nl-NL" sz="2200" dirty="0"/>
              <a:t>: class </a:t>
            </a:r>
            <a:r>
              <a:rPr lang="nl-NL" sz="2200" dirty="0" err="1"/>
              <a:t>when</a:t>
            </a:r>
            <a:r>
              <a:rPr lang="nl-NL" sz="2200" dirty="0"/>
              <a:t> private data is </a:t>
            </a:r>
            <a:r>
              <a:rPr lang="nl-NL" sz="2200" dirty="0" err="1"/>
              <a:t>required</a:t>
            </a:r>
            <a:endParaRPr lang="nl-BE" sz="2200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937E9AB-2113-9B1F-9045-2F6453C11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35" y="419453"/>
            <a:ext cx="4312687" cy="2387755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FA678720-E5E3-767A-B0C0-AFBF9FB54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879" y="3031496"/>
            <a:ext cx="7378373" cy="318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643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1B3BA9-D8B6-9C54-D306-4B1AF5E4A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nl-NL" sz="5400"/>
              <a:t>Diagram</a:t>
            </a:r>
            <a:endParaRPr lang="nl-BE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99A979B-EFA2-2DFC-A22C-6ACF0A470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nl-NL" sz="2200" dirty="0"/>
              <a:t>Black = </a:t>
            </a:r>
            <a:r>
              <a:rPr lang="nl-NL" sz="2200" dirty="0" err="1"/>
              <a:t>Structs</a:t>
            </a:r>
            <a:endParaRPr lang="nl-NL" sz="2200" dirty="0"/>
          </a:p>
          <a:p>
            <a:r>
              <a:rPr lang="nl-NL" sz="2200" dirty="0">
                <a:solidFill>
                  <a:srgbClr val="0070C0"/>
                </a:solidFill>
              </a:rPr>
              <a:t>Blue = Classes</a:t>
            </a:r>
          </a:p>
          <a:p>
            <a:r>
              <a:rPr lang="nl-NL" sz="2200" dirty="0" err="1">
                <a:solidFill>
                  <a:srgbClr val="7030A0"/>
                </a:solidFill>
              </a:rPr>
              <a:t>Purple</a:t>
            </a:r>
            <a:r>
              <a:rPr lang="nl-NL" sz="2200" dirty="0">
                <a:solidFill>
                  <a:srgbClr val="7030A0"/>
                </a:solidFill>
              </a:rPr>
              <a:t> = </a:t>
            </a:r>
            <a:r>
              <a:rPr lang="nl-NL" sz="2200" dirty="0" err="1">
                <a:solidFill>
                  <a:srgbClr val="7030A0"/>
                </a:solidFill>
              </a:rPr>
              <a:t>Creation</a:t>
            </a:r>
            <a:endParaRPr lang="nl-NL" sz="2200" dirty="0">
              <a:solidFill>
                <a:srgbClr val="7030A0"/>
              </a:solidFill>
            </a:endParaRPr>
          </a:p>
          <a:p>
            <a:r>
              <a:rPr lang="nl-NL" sz="2200" dirty="0">
                <a:solidFill>
                  <a:schemeClr val="bg2">
                    <a:lumMod val="50000"/>
                  </a:schemeClr>
                </a:solidFill>
              </a:rPr>
              <a:t>Gray = </a:t>
            </a:r>
            <a:r>
              <a:rPr lang="nl-NL" sz="2200" dirty="0" err="1">
                <a:solidFill>
                  <a:schemeClr val="bg2">
                    <a:lumMod val="50000"/>
                  </a:schemeClr>
                </a:solidFill>
              </a:rPr>
              <a:t>Dependency</a:t>
            </a:r>
            <a:endParaRPr lang="nl-BE" sz="2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F767718-1730-5467-63A9-144428C84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711" y="640080"/>
            <a:ext cx="628489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58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1587885-16DA-0BF6-0282-C42B0DEA6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nl-NL" sz="3400"/>
              <a:t>Object Creation : Builder Pattern	</a:t>
            </a:r>
            <a:endParaRPr lang="nl-BE" sz="340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C2BAA41-0790-6C01-2B1B-5D4C55E84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nl-NL" sz="2200" dirty="0"/>
              <a:t>Complex resources</a:t>
            </a:r>
          </a:p>
          <a:p>
            <a:r>
              <a:rPr lang="nl-NL" sz="2200" dirty="0" err="1"/>
              <a:t>Many</a:t>
            </a:r>
            <a:r>
              <a:rPr lang="nl-NL" sz="2200" dirty="0"/>
              <a:t> parameters / </a:t>
            </a:r>
            <a:r>
              <a:rPr lang="nl-NL" sz="2200" dirty="0" err="1"/>
              <a:t>dependencies</a:t>
            </a:r>
            <a:endParaRPr lang="nl-NL" sz="2200" dirty="0"/>
          </a:p>
          <a:p>
            <a:r>
              <a:rPr lang="nl-NL" sz="2200" dirty="0" err="1"/>
              <a:t>RenderPass</a:t>
            </a:r>
            <a:r>
              <a:rPr lang="nl-NL" sz="2200" dirty="0"/>
              <a:t>, Image, </a:t>
            </a:r>
            <a:r>
              <a:rPr lang="nl-NL" sz="2200" dirty="0" err="1"/>
              <a:t>Core</a:t>
            </a:r>
            <a:r>
              <a:rPr lang="nl-NL" sz="2200" dirty="0"/>
              <a:t> </a:t>
            </a:r>
            <a:r>
              <a:rPr lang="nl-NL" sz="2200" dirty="0" err="1"/>
              <a:t>components</a:t>
            </a:r>
            <a:r>
              <a:rPr lang="nl-NL" sz="2200" dirty="0"/>
              <a:t>, …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34049E0-327B-458F-3672-D937C8544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919517"/>
            <a:ext cx="10917936" cy="270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33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29A49E1-000C-0360-4D49-756B1D649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nl-NL" sz="3700"/>
              <a:t>Object Creation : Create method</a:t>
            </a:r>
            <a:endParaRPr lang="nl-BE" sz="3700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0CD45C65-3944-4588-89E7-5FA8857ED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nl-NL" sz="2200" dirty="0"/>
              <a:t>Few </a:t>
            </a:r>
            <a:r>
              <a:rPr lang="nl-NL" sz="2200" dirty="0" err="1"/>
              <a:t>dependencies</a:t>
            </a:r>
            <a:endParaRPr lang="nl-NL" sz="2200" dirty="0"/>
          </a:p>
          <a:p>
            <a:r>
              <a:rPr lang="nl-NL" sz="2200" dirty="0"/>
              <a:t>More </a:t>
            </a:r>
            <a:r>
              <a:rPr lang="nl-NL" sz="2200" dirty="0" err="1"/>
              <a:t>straightforward</a:t>
            </a:r>
            <a:r>
              <a:rPr lang="nl-NL" sz="2200" dirty="0"/>
              <a:t> setup</a:t>
            </a:r>
          </a:p>
          <a:p>
            <a:r>
              <a:rPr lang="nl-NL" sz="2200" dirty="0"/>
              <a:t>Buffer, Swapchain, </a:t>
            </a:r>
            <a:r>
              <a:rPr lang="nl-NL" sz="2200" dirty="0" err="1"/>
              <a:t>SyncManager</a:t>
            </a:r>
            <a:r>
              <a:rPr lang="nl-NL" sz="2200" dirty="0"/>
              <a:t>, G Buffer, …</a:t>
            </a:r>
          </a:p>
          <a:p>
            <a:endParaRPr lang="nl-BE" sz="2200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8658F1EA-29F2-CA43-EF1C-8E62792DD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668" y="2565489"/>
            <a:ext cx="6470664" cy="1003403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5266E9F2-9177-59DA-C8AE-22FCB5B06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668" y="3828909"/>
            <a:ext cx="6470664" cy="161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12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30A61F5-4562-1533-25FD-8165F645F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nl-NL" sz="5400" dirty="0" err="1"/>
              <a:t>Core</a:t>
            </a:r>
            <a:r>
              <a:rPr lang="nl-NL" sz="5400" dirty="0"/>
              <a:t> : Context</a:t>
            </a:r>
            <a:endParaRPr lang="nl-BE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F621294-B7E6-514A-1635-BC04BDA9D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nl-NL" sz="2200" dirty="0" err="1"/>
              <a:t>Centralizes</a:t>
            </a:r>
            <a:r>
              <a:rPr lang="nl-NL" sz="2200" dirty="0"/>
              <a:t> </a:t>
            </a:r>
            <a:r>
              <a:rPr lang="nl-NL" sz="2200" dirty="0" err="1"/>
              <a:t>Core</a:t>
            </a:r>
            <a:r>
              <a:rPr lang="nl-NL" sz="2200" dirty="0"/>
              <a:t> </a:t>
            </a:r>
            <a:r>
              <a:rPr lang="nl-NL" sz="2200" dirty="0" err="1"/>
              <a:t>Components</a:t>
            </a:r>
            <a:endParaRPr lang="nl-BE" sz="2200" dirty="0"/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Passed</a:t>
            </a:r>
            <a:r>
              <a:rPr kumimoji="0" lang="nl-NL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nl-NL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</a:t>
            </a:r>
            <a:r>
              <a:rPr kumimoji="0" lang="nl-NL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nl-NL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every</a:t>
            </a:r>
            <a:r>
              <a:rPr kumimoji="0" lang="nl-NL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nl-NL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function</a:t>
            </a:r>
            <a:endParaRPr kumimoji="0" lang="nl-NL" sz="2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2200" dirty="0" err="1">
                <a:latin typeface="Aptos" panose="02110004020202020204"/>
              </a:rPr>
              <a:t>Config</a:t>
            </a:r>
            <a:r>
              <a:rPr lang="nl-NL" sz="2200" dirty="0">
                <a:latin typeface="Aptos" panose="02110004020202020204"/>
              </a:rPr>
              <a:t> </a:t>
            </a:r>
            <a:r>
              <a:rPr lang="nl-NL" sz="2200" dirty="0" err="1">
                <a:latin typeface="Aptos" panose="02110004020202020204"/>
              </a:rPr>
              <a:t>allows</a:t>
            </a:r>
            <a:r>
              <a:rPr lang="nl-NL" sz="2200" dirty="0">
                <a:latin typeface="Aptos" panose="02110004020202020204"/>
              </a:rPr>
              <a:t> easy </a:t>
            </a:r>
            <a:r>
              <a:rPr lang="nl-NL" sz="2200" dirty="0" err="1">
                <a:latin typeface="Aptos" panose="02110004020202020204"/>
              </a:rPr>
              <a:t>expansion</a:t>
            </a:r>
            <a:r>
              <a:rPr lang="nl-NL" sz="2200" dirty="0">
                <a:latin typeface="Aptos" panose="02110004020202020204"/>
              </a:rPr>
              <a:t> 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DeviceFeatures</a:t>
            </a:r>
            <a:r>
              <a:rPr kumimoji="0" lang="nl-NL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nl-NL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struct</a:t>
            </a:r>
            <a:endParaRPr lang="nl-NL" sz="2200" dirty="0"/>
          </a:p>
          <a:p>
            <a:pPr marL="457200" lvl="1" indent="0">
              <a:buNone/>
            </a:pPr>
            <a:endParaRPr lang="nl-NL" sz="2200" dirty="0"/>
          </a:p>
          <a:p>
            <a:pPr lvl="1"/>
            <a:endParaRPr lang="nl-NL" sz="220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E67CE75A-847F-987F-F950-310B29C62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326" y="639520"/>
            <a:ext cx="5820043" cy="2880921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63725BF9-E64E-9C69-FDC2-0C7C44CAD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326" y="3611040"/>
            <a:ext cx="4096393" cy="1392173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C4C26E82-4C0E-2E1D-CA5C-A0E443D99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326" y="5217139"/>
            <a:ext cx="4953691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58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BE8B0-F7E7-FBEC-4D36-39232BD0C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CA60C3-A532-A1F5-8059-B90C5813E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B29A2A7-9CB5-A96A-7B37-02E191262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9520"/>
            <a:ext cx="3970561" cy="1719072"/>
          </a:xfrm>
        </p:spPr>
        <p:txBody>
          <a:bodyPr anchor="b">
            <a:normAutofit fontScale="90000"/>
          </a:bodyPr>
          <a:lstStyle/>
          <a:p>
            <a:r>
              <a:rPr lang="nl-NL" sz="5400" dirty="0"/>
              <a:t>Modern </a:t>
            </a:r>
            <a:r>
              <a:rPr lang="nl-NL" sz="5400" dirty="0" err="1"/>
              <a:t>Vulkan</a:t>
            </a:r>
            <a:r>
              <a:rPr lang="nl-NL" sz="5400" dirty="0"/>
              <a:t> – Sync 2</a:t>
            </a:r>
            <a:endParaRPr lang="nl-BE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206C3C7-A8DB-E60F-C9F3-3905FBA69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D7ECC4E-2159-CCB2-B53D-14B2FC170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nl-BE" sz="2200" dirty="0"/>
              <a:t>Barriers</a:t>
            </a:r>
          </a:p>
          <a:p>
            <a:r>
              <a:rPr lang="nl-BE" sz="2200" dirty="0"/>
              <a:t>Queue </a:t>
            </a:r>
            <a:r>
              <a:rPr lang="nl-BE" sz="2200" dirty="0" err="1"/>
              <a:t>Submits</a:t>
            </a:r>
            <a:endParaRPr lang="nl-BE" sz="2200" dirty="0"/>
          </a:p>
          <a:p>
            <a:r>
              <a:rPr lang="nl-BE" sz="2200" dirty="0"/>
              <a:t>Image Blits (</a:t>
            </a:r>
            <a:r>
              <a:rPr lang="nl-BE" sz="2200" dirty="0" err="1"/>
              <a:t>not</a:t>
            </a:r>
            <a:r>
              <a:rPr lang="nl-BE" sz="2200" dirty="0"/>
              <a:t> part of Sync2)</a:t>
            </a:r>
            <a:endParaRPr lang="nl-NL" sz="1800" dirty="0"/>
          </a:p>
          <a:p>
            <a:pPr marL="457200" lvl="1" indent="0">
              <a:buNone/>
            </a:pPr>
            <a:endParaRPr lang="nl-NL" sz="2200" dirty="0"/>
          </a:p>
          <a:p>
            <a:pPr lvl="1"/>
            <a:endParaRPr lang="nl-NL" sz="2200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443BFA4-C74A-761A-DB26-B27146AFA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496" y="1678969"/>
            <a:ext cx="6805030" cy="1547632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59C124C-0ECF-8A13-C06B-6E9E5145B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496" y="3351522"/>
            <a:ext cx="6311412" cy="3410712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1ACCDECB-E5F4-C8DE-519A-59C9EEB80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496" y="639520"/>
            <a:ext cx="6820852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401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A37C5-D015-FD29-6B63-069CF4CB8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EE072E-FBBA-918E-0412-F0F49CEF1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AA8BC6-E12A-8C40-DAD8-1593E0D70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9520"/>
            <a:ext cx="5465065" cy="1719072"/>
          </a:xfrm>
        </p:spPr>
        <p:txBody>
          <a:bodyPr anchor="b">
            <a:normAutofit fontScale="90000"/>
          </a:bodyPr>
          <a:lstStyle/>
          <a:p>
            <a:r>
              <a:rPr lang="nl-NL" sz="5400" dirty="0"/>
              <a:t>Modern </a:t>
            </a:r>
            <a:r>
              <a:rPr lang="nl-NL" sz="5400" dirty="0" err="1"/>
              <a:t>Vulkan</a:t>
            </a:r>
            <a:r>
              <a:rPr lang="nl-NL" sz="5400" dirty="0"/>
              <a:t> – </a:t>
            </a:r>
            <a:r>
              <a:rPr lang="nl-NL" sz="5400" dirty="0" err="1"/>
              <a:t>Dynamic</a:t>
            </a:r>
            <a:r>
              <a:rPr lang="nl-NL" sz="5400" dirty="0"/>
              <a:t> Rendering</a:t>
            </a:r>
            <a:endParaRPr lang="nl-BE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473F0C17-42ED-0FBE-1ADE-683508836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C17976-DD74-3667-0C36-980F4E9E8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nl-BE" sz="2200" dirty="0" err="1"/>
              <a:t>Toggle</a:t>
            </a:r>
            <a:r>
              <a:rPr lang="nl-BE" sz="2200" dirty="0"/>
              <a:t> in Builder</a:t>
            </a:r>
          </a:p>
          <a:p>
            <a:r>
              <a:rPr lang="nl-BE" sz="2200" dirty="0" err="1"/>
              <a:t>Still</a:t>
            </a:r>
            <a:r>
              <a:rPr lang="nl-BE" sz="2200" dirty="0"/>
              <a:t> </a:t>
            </a:r>
            <a:r>
              <a:rPr lang="nl-BE" sz="2200" dirty="0" err="1"/>
              <a:t>allows</a:t>
            </a:r>
            <a:r>
              <a:rPr lang="nl-BE" sz="2200" dirty="0"/>
              <a:t> </a:t>
            </a:r>
            <a:r>
              <a:rPr lang="nl-BE" sz="2200" dirty="0" err="1"/>
              <a:t>Renderpasses</a:t>
            </a:r>
            <a:endParaRPr lang="nl-NL" sz="1800" dirty="0"/>
          </a:p>
          <a:p>
            <a:pPr marL="457200" lvl="1" indent="0">
              <a:buNone/>
            </a:pPr>
            <a:endParaRPr lang="nl-NL" sz="2200" dirty="0"/>
          </a:p>
          <a:p>
            <a:pPr lvl="1"/>
            <a:endParaRPr lang="nl-NL" sz="2200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87A57E8-D328-DDD2-30E6-E07FB1940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690" y="341376"/>
            <a:ext cx="5967828" cy="3204642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E39ED481-4072-FC1E-276B-4D18CA3EB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191" y="3765798"/>
            <a:ext cx="7897327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52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6D03E5C-62A9-EB9F-B6E0-8B2525D8B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nl-BE" sz="5400" dirty="0"/>
              <a:t>Depth </a:t>
            </a:r>
            <a:r>
              <a:rPr lang="nl-BE" sz="5400" dirty="0" err="1"/>
              <a:t>Prepass</a:t>
            </a:r>
            <a:r>
              <a:rPr lang="nl-BE" sz="5400" dirty="0"/>
              <a:t> &amp; </a:t>
            </a:r>
            <a:r>
              <a:rPr lang="nl-BE" sz="5400" dirty="0" err="1"/>
              <a:t>Geometry</a:t>
            </a:r>
            <a:r>
              <a:rPr lang="nl-BE" sz="5400" dirty="0"/>
              <a:t> Pipeline	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77E467E-5E36-FC9E-660E-5F96B4E25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706624"/>
            <a:ext cx="7176565" cy="3607062"/>
          </a:xfrm>
        </p:spPr>
        <p:txBody>
          <a:bodyPr>
            <a:normAutofit/>
          </a:bodyPr>
          <a:lstStyle/>
          <a:p>
            <a:r>
              <a:rPr lang="nl-BE" sz="2400" dirty="0"/>
              <a:t>Same </a:t>
            </a:r>
            <a:r>
              <a:rPr lang="nl-BE" sz="2400" dirty="0" err="1"/>
              <a:t>PipelineLayout</a:t>
            </a:r>
            <a:endParaRPr lang="nl-BE" sz="2400" dirty="0"/>
          </a:p>
          <a:p>
            <a:r>
              <a:rPr lang="nl-BE" sz="2400" dirty="0"/>
              <a:t>Global Descriptor Set (</a:t>
            </a:r>
            <a:r>
              <a:rPr lang="nl-BE" sz="2400" dirty="0" err="1"/>
              <a:t>Textures</a:t>
            </a:r>
            <a:r>
              <a:rPr lang="nl-BE" sz="2400" dirty="0"/>
              <a:t>)</a:t>
            </a:r>
          </a:p>
          <a:p>
            <a:r>
              <a:rPr lang="nl-BE" sz="2400" dirty="0"/>
              <a:t>Per Frame Descriptor Sets (View </a:t>
            </a:r>
            <a:r>
              <a:rPr lang="nl-BE" sz="2400" dirty="0" err="1"/>
              <a:t>Proj</a:t>
            </a:r>
            <a:r>
              <a:rPr lang="nl-BE" sz="2400" dirty="0"/>
              <a:t>)</a:t>
            </a:r>
          </a:p>
          <a:p>
            <a:r>
              <a:rPr lang="nl-BE" sz="2400" dirty="0"/>
              <a:t>Per Model Push Constants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F43C78F-AFA6-0111-DAB8-0B63B69EE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689" y="864451"/>
            <a:ext cx="5683209" cy="5129097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76CB2CA1-29F7-D73D-EB3C-9D727262C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82" y="4510155"/>
            <a:ext cx="3995928" cy="154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11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BEB4A7-E1E0-859D-55D1-CA9C324A3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nl-BE" sz="5400"/>
              <a:t>G Buffer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928D04-1C05-E16E-C00E-CE7849793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4590681" cy="3483864"/>
          </a:xfrm>
        </p:spPr>
        <p:txBody>
          <a:bodyPr>
            <a:normAutofit/>
          </a:bodyPr>
          <a:lstStyle/>
          <a:p>
            <a:r>
              <a:rPr lang="nl-BE" sz="2200" dirty="0"/>
              <a:t>Albedo Image : 8 bit SRGB</a:t>
            </a:r>
          </a:p>
          <a:p>
            <a:r>
              <a:rPr lang="nl-BE" sz="2200" dirty="0" err="1"/>
              <a:t>Normals</a:t>
            </a:r>
            <a:r>
              <a:rPr lang="nl-BE" sz="2200" dirty="0"/>
              <a:t>: 16 bit SFLOAT</a:t>
            </a:r>
            <a:br>
              <a:rPr lang="nl-BE" sz="2200" dirty="0"/>
            </a:br>
            <a:r>
              <a:rPr lang="nl-BE" sz="2200" dirty="0"/>
              <a:t>(2 </a:t>
            </a:r>
            <a:r>
              <a:rPr lang="nl-BE" sz="2200" dirty="0" err="1"/>
              <a:t>channel</a:t>
            </a:r>
            <a:r>
              <a:rPr lang="nl-BE" sz="2200" dirty="0"/>
              <a:t>) (</a:t>
            </a:r>
            <a:r>
              <a:rPr lang="nl-BE" sz="2200" dirty="0" err="1"/>
              <a:t>spherical</a:t>
            </a:r>
            <a:r>
              <a:rPr lang="nl-BE" sz="2200" dirty="0"/>
              <a:t> </a:t>
            </a:r>
            <a:r>
              <a:rPr lang="nl-BE" sz="2200" dirty="0" err="1"/>
              <a:t>packing</a:t>
            </a:r>
            <a:r>
              <a:rPr lang="nl-BE" sz="2200" dirty="0"/>
              <a:t>)</a:t>
            </a:r>
          </a:p>
          <a:p>
            <a:r>
              <a:rPr lang="nl-BE" sz="2200" dirty="0"/>
              <a:t>Metallic &amp; </a:t>
            </a:r>
            <a:r>
              <a:rPr lang="nl-BE" sz="2200" dirty="0" err="1"/>
              <a:t>Roughness</a:t>
            </a:r>
            <a:r>
              <a:rPr lang="nl-BE" sz="2200" dirty="0"/>
              <a:t> : 8 bit UNORM</a:t>
            </a:r>
          </a:p>
          <a:p>
            <a:r>
              <a:rPr lang="nl-BE" sz="2200" dirty="0"/>
              <a:t>Depth Image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A95E204B-9925-23BE-2DFD-E3162A34E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5100978"/>
            <a:ext cx="3995928" cy="1588595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991EAC65-57B3-8750-5B39-E707AB687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02" y="660727"/>
            <a:ext cx="6545811" cy="409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61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85CB86-3B04-7562-7DB7-8179F1BB9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9F83C88-D37B-B654-5D6E-4E311315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nl-BE" sz="5400" dirty="0" err="1"/>
              <a:t>Deferred</a:t>
            </a:r>
            <a:r>
              <a:rPr lang="nl-BE" sz="5400" dirty="0"/>
              <a:t> Pipeline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3979FA5-DBFA-218D-38A2-317BF57DA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nl-BE" sz="2200" dirty="0"/>
              <a:t>Samples </a:t>
            </a:r>
            <a:r>
              <a:rPr lang="nl-BE" sz="2200" dirty="0" err="1"/>
              <a:t>from</a:t>
            </a:r>
            <a:r>
              <a:rPr lang="nl-BE" sz="2200" dirty="0"/>
              <a:t> G Buffer</a:t>
            </a:r>
            <a:br>
              <a:rPr lang="nl-BE" sz="2200" dirty="0"/>
            </a:br>
            <a:r>
              <a:rPr lang="nl-BE" sz="2200" dirty="0"/>
              <a:t> (</a:t>
            </a:r>
            <a:r>
              <a:rPr lang="nl-BE" sz="2200" dirty="0" err="1"/>
              <a:t>global</a:t>
            </a:r>
            <a:r>
              <a:rPr lang="nl-BE" sz="2200" dirty="0"/>
              <a:t> descriptor set)</a:t>
            </a:r>
          </a:p>
          <a:p>
            <a:r>
              <a:rPr lang="nl-BE" sz="2200" dirty="0"/>
              <a:t>Camera Data UBO</a:t>
            </a:r>
            <a:br>
              <a:rPr lang="nl-BE" sz="2200" dirty="0"/>
            </a:br>
            <a:r>
              <a:rPr lang="nl-BE" sz="2200" dirty="0"/>
              <a:t>( per frame descriptor set)</a:t>
            </a:r>
          </a:p>
          <a:p>
            <a:r>
              <a:rPr lang="nl-BE" sz="2200" dirty="0" err="1"/>
              <a:t>Lights</a:t>
            </a:r>
            <a:r>
              <a:rPr lang="nl-BE" sz="2200" dirty="0"/>
              <a:t> </a:t>
            </a:r>
            <a:r>
              <a:rPr lang="nl-BE" sz="2200" dirty="0" err="1"/>
              <a:t>UBO’s</a:t>
            </a:r>
            <a:r>
              <a:rPr lang="nl-BE" sz="2200" dirty="0"/>
              <a:t> &amp; Push Constants</a:t>
            </a:r>
          </a:p>
          <a:p>
            <a:r>
              <a:rPr lang="nl-BE" sz="2200" dirty="0" err="1"/>
              <a:t>Outputs</a:t>
            </a:r>
            <a:r>
              <a:rPr lang="nl-BE" sz="2200" dirty="0"/>
              <a:t> </a:t>
            </a:r>
            <a:r>
              <a:rPr lang="nl-BE" sz="2200" dirty="0" err="1"/>
              <a:t>to</a:t>
            </a:r>
            <a:r>
              <a:rPr lang="nl-BE" sz="2200" dirty="0"/>
              <a:t> HDR Image</a:t>
            </a:r>
          </a:p>
          <a:p>
            <a:endParaRPr lang="nl-BE" sz="2200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E35D09BE-611A-F02C-11C3-6CD5B96B9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121" y="5209276"/>
            <a:ext cx="2772162" cy="981212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D4442129-E26C-6861-5F8C-000266468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121" y="3429000"/>
            <a:ext cx="4158293" cy="1622332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B8C49FD7-BAFF-6C91-A29B-531BDCB45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921" y="169516"/>
            <a:ext cx="4370230" cy="310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56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751BB3-A779-24A0-120B-B2BBB87D4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2BFC41-5001-ECAA-5C31-84C54A00E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3E86398-1FC6-9291-2286-0BE807F36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11480"/>
            <a:ext cx="3703319" cy="1554480"/>
          </a:xfrm>
        </p:spPr>
        <p:txBody>
          <a:bodyPr anchor="ctr">
            <a:normAutofit/>
          </a:bodyPr>
          <a:lstStyle/>
          <a:p>
            <a:r>
              <a:rPr lang="nl-NL" dirty="0" err="1"/>
              <a:t>Blitting</a:t>
            </a:r>
            <a:r>
              <a:rPr lang="nl-NL" dirty="0"/>
              <a:t> Pass</a:t>
            </a:r>
            <a:endParaRPr lang="nl-BE" dirty="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B8459842-8A42-D8B5-C4D4-AE7E20FFE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596C8684-109A-DD25-EF8B-876628D82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nl-BE" sz="2400" dirty="0"/>
              <a:t>Samples HDR Image</a:t>
            </a:r>
          </a:p>
          <a:p>
            <a:r>
              <a:rPr lang="nl-BE" sz="2400" dirty="0" err="1"/>
              <a:t>PushConstant</a:t>
            </a:r>
            <a:r>
              <a:rPr lang="nl-BE" sz="2400" dirty="0"/>
              <a:t> </a:t>
            </a:r>
            <a:r>
              <a:rPr lang="nl-BE" sz="2400" dirty="0" err="1"/>
              <a:t>for</a:t>
            </a:r>
            <a:r>
              <a:rPr lang="nl-BE" sz="2400" dirty="0"/>
              <a:t> Camera </a:t>
            </a:r>
            <a:r>
              <a:rPr lang="nl-BE" sz="2400" dirty="0" err="1"/>
              <a:t>specs</a:t>
            </a:r>
            <a:endParaRPr lang="nl-BE" sz="2400" dirty="0"/>
          </a:p>
          <a:p>
            <a:r>
              <a:rPr lang="nl-BE" sz="2400" dirty="0"/>
              <a:t>Reinhard Tone Mapping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C0274CFF-671E-24FC-064A-CA2CD689D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377" y="2164814"/>
            <a:ext cx="2566243" cy="132913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74DB1A50-5326-3C5B-5D9A-E56A0B4F6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88" y="3692799"/>
            <a:ext cx="5173422" cy="2854940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7AB87920-E80B-D7B9-1D00-AA0FF0FB3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637935"/>
            <a:ext cx="5167256" cy="285494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DA401A09-1870-FF8C-55BA-BB3F0F5C2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204" y="2372115"/>
            <a:ext cx="3562847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41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0C8BE-57A6-86C8-C333-4DC192E3C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9709A5-34ED-7F7A-A508-D68CDA7A4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2530677-1E0D-656B-5B61-5862953C6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nl-NL" sz="5400" dirty="0"/>
              <a:t>Scene Data</a:t>
            </a:r>
            <a:endParaRPr lang="nl-BE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A211C8BB-D371-A2D1-2AD3-3316F7AF4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A3A648D-CBAA-B9A1-E70A-ED7C75FE3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nl-NL" sz="2200" dirty="0" err="1"/>
              <a:t>Parsed</a:t>
            </a:r>
            <a:r>
              <a:rPr lang="nl-NL" sz="2200" dirty="0"/>
              <a:t> </a:t>
            </a:r>
            <a:r>
              <a:rPr lang="nl-NL" sz="2200" dirty="0" err="1"/>
              <a:t>from</a:t>
            </a:r>
            <a:r>
              <a:rPr lang="nl-NL" sz="2200" dirty="0"/>
              <a:t> GLTF file</a:t>
            </a:r>
            <a:endParaRPr lang="nl-BE" sz="2200" dirty="0"/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Scene </a:t>
            </a:r>
            <a:r>
              <a:rPr kumimoji="0" lang="nl-NL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holds</a:t>
            </a:r>
            <a:r>
              <a:rPr kumimoji="0" lang="nl-NL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nl-NL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all</a:t>
            </a:r>
            <a:r>
              <a:rPr kumimoji="0" lang="nl-NL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data (</a:t>
            </a:r>
            <a:r>
              <a:rPr kumimoji="0" lang="nl-NL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avoids</a:t>
            </a:r>
            <a:r>
              <a:rPr kumimoji="0" lang="nl-NL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nl-NL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duplication</a:t>
            </a:r>
            <a:r>
              <a:rPr kumimoji="0" lang="nl-NL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2200" dirty="0">
                <a:latin typeface="Aptos" panose="02110004020202020204"/>
              </a:rPr>
              <a:t>Resources are </a:t>
            </a:r>
            <a:r>
              <a:rPr lang="nl-NL" sz="2200" dirty="0" err="1">
                <a:latin typeface="Aptos" panose="02110004020202020204"/>
              </a:rPr>
              <a:t>referenced</a:t>
            </a:r>
            <a:r>
              <a:rPr lang="nl-NL" sz="2200" dirty="0">
                <a:latin typeface="Aptos" panose="02110004020202020204"/>
              </a:rPr>
              <a:t> </a:t>
            </a:r>
            <a:r>
              <a:rPr lang="nl-NL" sz="2200" dirty="0" err="1">
                <a:latin typeface="Aptos" panose="02110004020202020204"/>
              </a:rPr>
              <a:t>using</a:t>
            </a:r>
            <a:r>
              <a:rPr lang="nl-NL" sz="2200" dirty="0">
                <a:latin typeface="Aptos" panose="02110004020202020204"/>
              </a:rPr>
              <a:t> indices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2200" dirty="0" err="1">
                <a:latin typeface="Aptos" panose="02110004020202020204"/>
              </a:rPr>
              <a:t>Materials</a:t>
            </a:r>
            <a:r>
              <a:rPr lang="nl-NL" sz="2200" dirty="0">
                <a:latin typeface="Aptos" panose="02110004020202020204"/>
              </a:rPr>
              <a:t> vector </a:t>
            </a:r>
            <a:r>
              <a:rPr lang="nl-NL" sz="2200" dirty="0" err="1">
                <a:latin typeface="Aptos" panose="02110004020202020204"/>
              </a:rPr>
              <a:t>passed</a:t>
            </a:r>
            <a:r>
              <a:rPr lang="nl-NL" sz="2200" dirty="0">
                <a:latin typeface="Aptos" panose="02110004020202020204"/>
              </a:rPr>
              <a:t> in </a:t>
            </a:r>
            <a:r>
              <a:rPr lang="nl-NL" sz="2200" dirty="0" err="1">
                <a:latin typeface="Aptos" panose="02110004020202020204"/>
              </a:rPr>
              <a:t>Mesh</a:t>
            </a:r>
            <a:r>
              <a:rPr lang="nl-NL" sz="2200" dirty="0">
                <a:latin typeface="Aptos" panose="02110004020202020204"/>
              </a:rPr>
              <a:t> </a:t>
            </a:r>
            <a:r>
              <a:rPr lang="nl-NL" sz="2200" dirty="0" err="1">
                <a:latin typeface="Aptos" panose="02110004020202020204"/>
              </a:rPr>
              <a:t>RecordDraw</a:t>
            </a:r>
            <a:endParaRPr lang="nl-NL" sz="2200" dirty="0"/>
          </a:p>
          <a:p>
            <a:pPr marL="457200" lvl="1" indent="0">
              <a:buNone/>
            </a:pPr>
            <a:endParaRPr lang="nl-NL" sz="2200" dirty="0"/>
          </a:p>
          <a:p>
            <a:pPr lvl="1"/>
            <a:endParaRPr lang="nl-NL" sz="220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DC527EE4-6F40-2D88-ACCF-83F9CDBB5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542" y="557784"/>
            <a:ext cx="3060552" cy="1525291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7C3E6C66-C7A8-0126-DB79-FDA09AA31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147" y="660018"/>
            <a:ext cx="3504889" cy="1321709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317A7E49-FAB4-0AD6-E0EF-3AE7ECE08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651" y="2250668"/>
            <a:ext cx="6031099" cy="2786217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06440D4E-1116-C147-0EA1-6BC0A5A801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651" y="5175428"/>
            <a:ext cx="5040499" cy="81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834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9DB1F-BD34-01EB-3D43-1CF88993E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37FA62-8CFB-2FF7-B18D-45121CC79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4324816-C1C9-F3C9-7CF5-2A57B2A37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nl-NL" sz="5400" dirty="0"/>
              <a:t>Record Draw</a:t>
            </a:r>
            <a:endParaRPr lang="nl-BE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6BFE931-865E-86EA-2DF2-40E4525DD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13B86B7-9914-0929-3554-66F8CC0DF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nl-BE" sz="2200" dirty="0"/>
              <a:t>Reference </a:t>
            </a:r>
            <a:r>
              <a:rPr lang="nl-BE" sz="2200" dirty="0" err="1"/>
              <a:t>to</a:t>
            </a:r>
            <a:r>
              <a:rPr lang="nl-BE" sz="2200" dirty="0"/>
              <a:t> </a:t>
            </a:r>
            <a:r>
              <a:rPr lang="nl-BE" sz="2200" dirty="0" err="1"/>
              <a:t>Materials</a:t>
            </a:r>
            <a:r>
              <a:rPr lang="nl-BE" sz="2200" dirty="0"/>
              <a:t> vector</a:t>
            </a:r>
          </a:p>
          <a:p>
            <a:r>
              <a:rPr lang="nl-BE" sz="2200" dirty="0" err="1"/>
              <a:t>Binds</a:t>
            </a:r>
            <a:r>
              <a:rPr lang="nl-BE" sz="2200" dirty="0"/>
              <a:t> Push Constants </a:t>
            </a:r>
            <a:r>
              <a:rPr lang="nl-BE" sz="2200" dirty="0" err="1"/>
              <a:t>for</a:t>
            </a:r>
            <a:r>
              <a:rPr lang="nl-BE" sz="2200" dirty="0"/>
              <a:t> </a:t>
            </a:r>
            <a:r>
              <a:rPr lang="nl-BE" sz="2200" dirty="0" err="1"/>
              <a:t>every</a:t>
            </a:r>
            <a:r>
              <a:rPr lang="nl-BE" sz="2200" dirty="0"/>
              <a:t> </a:t>
            </a:r>
            <a:r>
              <a:rPr lang="nl-BE" sz="2200" dirty="0" err="1"/>
              <a:t>Mesh</a:t>
            </a:r>
            <a:endParaRPr lang="nl-BE" sz="2200" dirty="0"/>
          </a:p>
          <a:p>
            <a:pPr lvl="1"/>
            <a:r>
              <a:rPr lang="nl-BE" sz="1800" dirty="0"/>
              <a:t>Model matrix</a:t>
            </a:r>
          </a:p>
          <a:p>
            <a:pPr lvl="1"/>
            <a:r>
              <a:rPr lang="nl-BE" sz="1800" dirty="0"/>
              <a:t>Albedo Tex index</a:t>
            </a:r>
          </a:p>
          <a:p>
            <a:pPr lvl="1"/>
            <a:r>
              <a:rPr lang="nl-BE" sz="1800" dirty="0" err="1"/>
              <a:t>Normal</a:t>
            </a:r>
            <a:r>
              <a:rPr lang="nl-BE" sz="1800" dirty="0"/>
              <a:t> Map index</a:t>
            </a:r>
          </a:p>
          <a:p>
            <a:pPr lvl="1"/>
            <a:r>
              <a:rPr lang="nl-BE" sz="1800" dirty="0"/>
              <a:t>Metallic </a:t>
            </a:r>
            <a:r>
              <a:rPr lang="nl-BE" sz="1800" dirty="0" err="1"/>
              <a:t>Roughness</a:t>
            </a:r>
            <a:r>
              <a:rPr lang="nl-BE" sz="1800" dirty="0"/>
              <a:t> index</a:t>
            </a:r>
            <a:endParaRPr lang="nl-NL" sz="1800" dirty="0"/>
          </a:p>
          <a:p>
            <a:pPr marL="457200" lvl="1" indent="0">
              <a:buNone/>
            </a:pPr>
            <a:endParaRPr lang="nl-NL" sz="2200" dirty="0"/>
          </a:p>
          <a:p>
            <a:pPr lvl="1"/>
            <a:endParaRPr lang="nl-NL" sz="2200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ABAF0FD8-1ADA-B005-8D14-8BB1B61E1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000" y="1596627"/>
            <a:ext cx="7399935" cy="311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642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3C1AB3-C191-1E84-E54F-8637C69AA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Timeline</a:t>
            </a:r>
          </a:p>
        </p:txBody>
      </p:sp>
      <p:pic>
        <p:nvPicPr>
          <p:cNvPr id="4" name="20260825-2214-42.8453038">
            <a:hlinkClick r:id="" action="ppaction://media"/>
            <a:extLst>
              <a:ext uri="{FF2B5EF4-FFF2-40B4-BE49-F238E27FC236}">
                <a16:creationId xmlns:a16="http://schemas.microsoft.com/office/drawing/2014/main" id="{64AF38FF-44C8-EA2C-4F5B-AA9F9BA1911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73125" y="1825625"/>
            <a:ext cx="10445750" cy="4351338"/>
          </a:xfrm>
        </p:spPr>
      </p:pic>
    </p:spTree>
    <p:extLst>
      <p:ext uri="{BB962C8B-B14F-4D97-AF65-F5344CB8AC3E}">
        <p14:creationId xmlns:p14="http://schemas.microsoft.com/office/powerpoint/2010/main" val="284332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9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BCF8C1-B0D3-1758-72BC-F042EB73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VMA output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A3D267A7-307C-4ED2-3216-8290AF8AB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051"/>
          <a:stretch>
            <a:fillRect/>
          </a:stretch>
        </p:blipFill>
        <p:spPr>
          <a:xfrm>
            <a:off x="614486" y="1605664"/>
            <a:ext cx="10963028" cy="412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84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A3EDC4-03F7-1B86-FF05-1D59FBDBB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6" name="20260825-2237-09.7712538">
            <a:hlinkClick r:id="" action="ppaction://media"/>
            <a:extLst>
              <a:ext uri="{FF2B5EF4-FFF2-40B4-BE49-F238E27FC236}">
                <a16:creationId xmlns:a16="http://schemas.microsoft.com/office/drawing/2014/main" id="{324B0114-44D4-F109-8796-03493E06EAD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82081" y="664983"/>
            <a:ext cx="9827838" cy="5528034"/>
          </a:xfrm>
        </p:spPr>
      </p:pic>
    </p:spTree>
    <p:extLst>
      <p:ext uri="{BB962C8B-B14F-4D97-AF65-F5344CB8AC3E}">
        <p14:creationId xmlns:p14="http://schemas.microsoft.com/office/powerpoint/2010/main" val="193692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89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6D8BA30-9FEB-0D3B-EE48-A1107A715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5691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285</Words>
  <Application>Microsoft Office PowerPoint</Application>
  <PresentationFormat>Breedbeeld</PresentationFormat>
  <Paragraphs>66</Paragraphs>
  <Slides>18</Slides>
  <Notes>0</Notes>
  <HiddenSlides>0</HiddenSlides>
  <MMClips>2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Kantoorthema</vt:lpstr>
      <vt:lpstr>Vulkan Renderer</vt:lpstr>
      <vt:lpstr>Core Architecture</vt:lpstr>
      <vt:lpstr>Diagram</vt:lpstr>
      <vt:lpstr>Object Creation : Builder Pattern </vt:lpstr>
      <vt:lpstr>Object Creation : Create method</vt:lpstr>
      <vt:lpstr>Core : Context</vt:lpstr>
      <vt:lpstr>Modern Vulkan – Sync 2</vt:lpstr>
      <vt:lpstr>Modern Vulkan – Dynamic Rendering</vt:lpstr>
      <vt:lpstr>Depth Prepass &amp; Geometry Pipeline </vt:lpstr>
      <vt:lpstr>G Buffer</vt:lpstr>
      <vt:lpstr>Deferred Pipeline</vt:lpstr>
      <vt:lpstr>Blitting Pass</vt:lpstr>
      <vt:lpstr>Scene Data</vt:lpstr>
      <vt:lpstr>Record Draw</vt:lpstr>
      <vt:lpstr>Timeline</vt:lpstr>
      <vt:lpstr>VMA output</vt:lpstr>
      <vt:lpstr>PowerPoint-presentatie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Senne GOEMINNE</dc:creator>
  <cp:lastModifiedBy>Senne GOEMINNE</cp:lastModifiedBy>
  <cp:revision>32</cp:revision>
  <dcterms:created xsi:type="dcterms:W3CDTF">2026-05-31T19:44:56Z</dcterms:created>
  <dcterms:modified xsi:type="dcterms:W3CDTF">2026-08-26T19:55:42Z</dcterms:modified>
</cp:coreProperties>
</file>